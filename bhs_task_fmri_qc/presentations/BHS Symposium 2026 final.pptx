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8"/>
  </p:notesMasterIdLst>
  <p:sldIdLst>
    <p:sldId id="258" r:id="rId2"/>
    <p:sldId id="259" r:id="rId3"/>
    <p:sldId id="260" r:id="rId4"/>
    <p:sldId id="263" r:id="rId5"/>
    <p:sldId id="265" r:id="rId6"/>
    <p:sldId id="266" r:id="rId7"/>
  </p:sldIdLst>
  <p:sldSz cx="12192000" cy="6858000"/>
  <p:notesSz cx="6858000" cy="9144000"/>
  <p:defaultTextStyle>
    <a:defPPr>
      <a:defRPr lang="en-TW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7E6DBB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9617"/>
    <p:restoredTop sz="95946"/>
  </p:normalViewPr>
  <p:slideViewPr>
    <p:cSldViewPr snapToGrid="0">
      <p:cViewPr varScale="1">
        <p:scale>
          <a:sx n="115" d="100"/>
          <a:sy n="115" d="100"/>
        </p:scale>
        <p:origin x="240" y="20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notesMaster" Target="notesMasters/notesMaster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heme" Target="theme/theme1.xml"/><Relationship Id="rId5" Type="http://schemas.openxmlformats.org/officeDocument/2006/relationships/slide" Target="slides/slide4.xml"/><Relationship Id="rId10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TW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48B3C119-4A31-8F4F-A617-1B5686006E7F}" type="datetimeFigureOut">
              <a:rPr lang="en-TW" smtClean="0"/>
              <a:t>2026/7/1</a:t>
            </a:fld>
            <a:endParaRPr lang="en-TW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TW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TW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TW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5AAFB25F-F451-C943-909A-0BC5F5A57C7A}" type="slidenum">
              <a:rPr lang="en-TW" smtClean="0"/>
              <a:t>‹#›</a:t>
            </a:fld>
            <a:endParaRPr lang="en-TW"/>
          </a:p>
        </p:txBody>
      </p:sp>
    </p:spTree>
    <p:extLst>
      <p:ext uri="{BB962C8B-B14F-4D97-AF65-F5344CB8AC3E}">
        <p14:creationId xmlns:p14="http://schemas.microsoft.com/office/powerpoint/2010/main" val="121904800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613478A-73B2-08CF-A4D2-5209094B918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TW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49CE844A-59CF-7DC2-DFD5-C760BBD0CDB9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TW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539C32F-1D83-1D25-FFBD-B89188A3FEA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B7E86CE-267E-2C43-9384-AFD232E1A593}" type="datetimeFigureOut">
              <a:rPr lang="en-TW" smtClean="0"/>
              <a:t>2026/7/1</a:t>
            </a:fld>
            <a:endParaRPr lang="en-TW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FA8215F-9DEA-ECBB-1E20-A8222D0452D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TW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3C1E637-4053-D1DA-2E10-3DAB33FF1E1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DB3A77C-3180-BD40-BCA4-14BE9D224813}" type="slidenum">
              <a:rPr lang="en-TW" smtClean="0"/>
              <a:t>‹#›</a:t>
            </a:fld>
            <a:endParaRPr lang="en-TW"/>
          </a:p>
        </p:txBody>
      </p:sp>
    </p:spTree>
    <p:extLst>
      <p:ext uri="{BB962C8B-B14F-4D97-AF65-F5344CB8AC3E}">
        <p14:creationId xmlns:p14="http://schemas.microsoft.com/office/powerpoint/2010/main" val="233724882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C27A843-5F58-576F-20A9-3E5E55CA738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TW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7DD0E49-65D6-B019-44BE-A11C7A86B5D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TW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B2D3553-FE21-1015-C97D-05448166FC3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B7E86CE-267E-2C43-9384-AFD232E1A593}" type="datetimeFigureOut">
              <a:rPr lang="en-TW" smtClean="0"/>
              <a:t>2026/7/1</a:t>
            </a:fld>
            <a:endParaRPr lang="en-TW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109E66E-2CAE-9EF4-E34C-4C6124884DE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TW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FFC95BC-4013-1F37-3EEA-0604C65BEB2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DB3A77C-3180-BD40-BCA4-14BE9D224813}" type="slidenum">
              <a:rPr lang="en-TW" smtClean="0"/>
              <a:t>‹#›</a:t>
            </a:fld>
            <a:endParaRPr lang="en-TW"/>
          </a:p>
        </p:txBody>
      </p:sp>
    </p:spTree>
    <p:extLst>
      <p:ext uri="{BB962C8B-B14F-4D97-AF65-F5344CB8AC3E}">
        <p14:creationId xmlns:p14="http://schemas.microsoft.com/office/powerpoint/2010/main" val="275980079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1FF58D5-2DA7-3EC3-1D24-BB4290955A1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TW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8C8ECE86-A3CC-FAEF-4ADC-4BC544CBE97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8612282-DF45-622F-F3AE-F75594EB5B8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B7E86CE-267E-2C43-9384-AFD232E1A593}" type="datetimeFigureOut">
              <a:rPr lang="en-TW" smtClean="0"/>
              <a:t>2026/7/1</a:t>
            </a:fld>
            <a:endParaRPr lang="en-TW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E91C3B4-3DFE-2B10-0EC4-826584D6D45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TW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69FE313-9188-436D-CD66-1E25CE4F6C6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DB3A77C-3180-BD40-BCA4-14BE9D224813}" type="slidenum">
              <a:rPr lang="en-TW" smtClean="0"/>
              <a:t>‹#›</a:t>
            </a:fld>
            <a:endParaRPr lang="en-TW"/>
          </a:p>
        </p:txBody>
      </p:sp>
    </p:spTree>
    <p:extLst>
      <p:ext uri="{BB962C8B-B14F-4D97-AF65-F5344CB8AC3E}">
        <p14:creationId xmlns:p14="http://schemas.microsoft.com/office/powerpoint/2010/main" val="221581173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1F8221C-9367-00ED-5556-DAF325F7F4C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TW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CC516D1-64B7-9860-2B63-D676B69B1F39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TW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94A6D1EB-5DC8-7CEF-21EA-E4DD0186E2F4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TW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DDB34279-0F48-B8A3-06E7-D3DE9A1A51F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B7E86CE-267E-2C43-9384-AFD232E1A593}" type="datetimeFigureOut">
              <a:rPr lang="en-TW" smtClean="0"/>
              <a:t>2026/7/1</a:t>
            </a:fld>
            <a:endParaRPr lang="en-TW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985D0CDA-CEFA-439B-94AB-E0B8761BC6C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TW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96FBEEDB-3403-F37F-0E5B-B25FD354E3D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DB3A77C-3180-BD40-BCA4-14BE9D224813}" type="slidenum">
              <a:rPr lang="en-TW" smtClean="0"/>
              <a:t>‹#›</a:t>
            </a:fld>
            <a:endParaRPr lang="en-TW"/>
          </a:p>
        </p:txBody>
      </p:sp>
    </p:spTree>
    <p:extLst>
      <p:ext uri="{BB962C8B-B14F-4D97-AF65-F5344CB8AC3E}">
        <p14:creationId xmlns:p14="http://schemas.microsoft.com/office/powerpoint/2010/main" val="367227988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331B06B-4530-B9E3-3CE2-4D4DB585E42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TW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269653B-0BC9-FCA8-EB20-BA8222DAE6F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E233F41F-1E5F-DB28-D530-CB49B6DEC5F3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TW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2BAAF9F3-C230-23EF-AAEE-E1CED584D6CF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F51A6D02-915A-4267-5A96-2D5453C0B3E4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TW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F98A4F2D-EB39-3BC9-4F79-B047B88F211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B7E86CE-267E-2C43-9384-AFD232E1A593}" type="datetimeFigureOut">
              <a:rPr lang="en-TW" smtClean="0"/>
              <a:t>2026/7/1</a:t>
            </a:fld>
            <a:endParaRPr lang="en-TW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D1CDCDE9-01D8-ABED-01EB-39FCDEF069E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TW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4E946330-7F1E-FE82-A70E-8B0476C0EFD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DB3A77C-3180-BD40-BCA4-14BE9D224813}" type="slidenum">
              <a:rPr lang="en-TW" smtClean="0"/>
              <a:t>‹#›</a:t>
            </a:fld>
            <a:endParaRPr lang="en-TW"/>
          </a:p>
        </p:txBody>
      </p:sp>
    </p:spTree>
    <p:extLst>
      <p:ext uri="{BB962C8B-B14F-4D97-AF65-F5344CB8AC3E}">
        <p14:creationId xmlns:p14="http://schemas.microsoft.com/office/powerpoint/2010/main" val="79650155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79129F9-1C68-DAD4-02B5-2075AEA8254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TW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64D75BB2-104C-7125-6AFD-F25AF3995BA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B7E86CE-267E-2C43-9384-AFD232E1A593}" type="datetimeFigureOut">
              <a:rPr lang="en-TW" smtClean="0"/>
              <a:t>2026/7/1</a:t>
            </a:fld>
            <a:endParaRPr lang="en-TW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A5C34283-48C7-9CCE-0C58-841E91C0AB7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TW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41381A60-C8E1-6248-C400-57E2386E59A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DB3A77C-3180-BD40-BCA4-14BE9D224813}" type="slidenum">
              <a:rPr lang="en-TW" smtClean="0"/>
              <a:t>‹#›</a:t>
            </a:fld>
            <a:endParaRPr lang="en-TW"/>
          </a:p>
        </p:txBody>
      </p:sp>
    </p:spTree>
    <p:extLst>
      <p:ext uri="{BB962C8B-B14F-4D97-AF65-F5344CB8AC3E}">
        <p14:creationId xmlns:p14="http://schemas.microsoft.com/office/powerpoint/2010/main" val="8068405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3F6B5519-CFDA-042C-F0EC-92084B9E176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B7E86CE-267E-2C43-9384-AFD232E1A593}" type="datetimeFigureOut">
              <a:rPr lang="en-TW" smtClean="0"/>
              <a:t>2026/7/1</a:t>
            </a:fld>
            <a:endParaRPr lang="en-TW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BE0B3E95-47F0-5516-29D3-16ECD591449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TW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7A13C32-EDF2-5EEC-FA42-65FFA23D261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DB3A77C-3180-BD40-BCA4-14BE9D224813}" type="slidenum">
              <a:rPr lang="en-TW" smtClean="0"/>
              <a:t>‹#›</a:t>
            </a:fld>
            <a:endParaRPr lang="en-TW"/>
          </a:p>
        </p:txBody>
      </p:sp>
    </p:spTree>
    <p:extLst>
      <p:ext uri="{BB962C8B-B14F-4D97-AF65-F5344CB8AC3E}">
        <p14:creationId xmlns:p14="http://schemas.microsoft.com/office/powerpoint/2010/main" val="111257994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D6B0F5A-BE67-F913-C468-B26B41AFF6F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TW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52F3FD5-20ED-5FCA-10B1-DB2691EE26D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TW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9FE1CA55-5CFD-DB82-0F00-D7212940CE7B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1A288CB6-6DFB-18D1-FBB6-3F5AB995C07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B7E86CE-267E-2C43-9384-AFD232E1A593}" type="datetimeFigureOut">
              <a:rPr lang="en-TW" smtClean="0"/>
              <a:t>2026/7/1</a:t>
            </a:fld>
            <a:endParaRPr lang="en-TW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5A4B16EA-D281-7770-5463-6759CC74B6F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TW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2A292BAB-E0C2-2A74-E709-0B1FA0492B4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DB3A77C-3180-BD40-BCA4-14BE9D224813}" type="slidenum">
              <a:rPr lang="en-TW" smtClean="0"/>
              <a:t>‹#›</a:t>
            </a:fld>
            <a:endParaRPr lang="en-TW"/>
          </a:p>
        </p:txBody>
      </p:sp>
    </p:spTree>
    <p:extLst>
      <p:ext uri="{BB962C8B-B14F-4D97-AF65-F5344CB8AC3E}">
        <p14:creationId xmlns:p14="http://schemas.microsoft.com/office/powerpoint/2010/main" val="207812077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B1CF003-67FF-689A-9B3E-33721F7BF38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TW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630C5B71-8E29-C1E2-4D46-0A680768BF73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TW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8E082F9A-4C1F-9144-9F93-413ACB869444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A238466-CD53-9404-0582-128B5DA5DC9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B7E86CE-267E-2C43-9384-AFD232E1A593}" type="datetimeFigureOut">
              <a:rPr lang="en-TW" smtClean="0"/>
              <a:t>2026/7/1</a:t>
            </a:fld>
            <a:endParaRPr lang="en-TW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85516F76-816C-A033-BD1F-17DFE78BEE3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TW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4CD260C4-3AFA-C51D-3DF6-81052BA8318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DB3A77C-3180-BD40-BCA4-14BE9D224813}" type="slidenum">
              <a:rPr lang="en-TW" smtClean="0"/>
              <a:t>‹#›</a:t>
            </a:fld>
            <a:endParaRPr lang="en-TW"/>
          </a:p>
        </p:txBody>
      </p:sp>
    </p:spTree>
    <p:extLst>
      <p:ext uri="{BB962C8B-B14F-4D97-AF65-F5344CB8AC3E}">
        <p14:creationId xmlns:p14="http://schemas.microsoft.com/office/powerpoint/2010/main" val="232588975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85EC0E8-047F-A2EB-4593-986F493D2CD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TW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7F5E39C4-B535-5306-012E-98090791FBA0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TW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576D747-528E-BE43-4DFC-43E15048D9D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B7E86CE-267E-2C43-9384-AFD232E1A593}" type="datetimeFigureOut">
              <a:rPr lang="en-TW" smtClean="0"/>
              <a:t>2026/7/1</a:t>
            </a:fld>
            <a:endParaRPr lang="en-TW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5975350-3DF3-1863-75EC-C871C8CF2E2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TW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106EB37-CC59-5BC5-BB4B-1A539AFA63A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DB3A77C-3180-BD40-BCA4-14BE9D224813}" type="slidenum">
              <a:rPr lang="en-TW" smtClean="0"/>
              <a:t>‹#›</a:t>
            </a:fld>
            <a:endParaRPr lang="en-TW"/>
          </a:p>
        </p:txBody>
      </p:sp>
    </p:spTree>
    <p:extLst>
      <p:ext uri="{BB962C8B-B14F-4D97-AF65-F5344CB8AC3E}">
        <p14:creationId xmlns:p14="http://schemas.microsoft.com/office/powerpoint/2010/main" val="426680301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8190AA09-3C9F-342F-5F7A-4DA3D3830875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TW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74DD65C2-3903-3997-EE7C-C506BBE9E385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TW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3748EE0-1397-F301-2E5F-4C0832053B9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B7E86CE-267E-2C43-9384-AFD232E1A593}" type="datetimeFigureOut">
              <a:rPr lang="en-TW" smtClean="0"/>
              <a:t>2026/7/1</a:t>
            </a:fld>
            <a:endParaRPr lang="en-TW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BE33EDA-B9E3-5F07-1E28-D496C7408D6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TW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29F610B-E10F-9FCF-BF36-553323D54B5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DB3A77C-3180-BD40-BCA4-14BE9D224813}" type="slidenum">
              <a:rPr lang="en-TW" smtClean="0"/>
              <a:t>‹#›</a:t>
            </a:fld>
            <a:endParaRPr lang="en-TW"/>
          </a:p>
        </p:txBody>
      </p:sp>
    </p:spTree>
    <p:extLst>
      <p:ext uri="{BB962C8B-B14F-4D97-AF65-F5344CB8AC3E}">
        <p14:creationId xmlns:p14="http://schemas.microsoft.com/office/powerpoint/2010/main" val="67128555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60644641-A737-2FF1-20CE-98A41B64D48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TW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8FE3A50E-D61F-C8C4-F63C-4D73F1D24D7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TW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F755CA9-0B9B-FD69-872A-180B7978587E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B7E86CE-267E-2C43-9384-AFD232E1A593}" type="datetimeFigureOut">
              <a:rPr lang="en-TW" smtClean="0"/>
              <a:t>2026/7/1</a:t>
            </a:fld>
            <a:endParaRPr lang="en-TW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F5C05E0-7FD2-FC2E-4AB9-34D229EBEF00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TW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1B6AC42-695A-FB43-1EE6-63247CA24CC6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DB3A77C-3180-BD40-BCA4-14BE9D224813}" type="slidenum">
              <a:rPr lang="en-TW" smtClean="0"/>
              <a:t>‹#›</a:t>
            </a:fld>
            <a:endParaRPr lang="en-TW"/>
          </a:p>
        </p:txBody>
      </p:sp>
    </p:spTree>
    <p:extLst>
      <p:ext uri="{BB962C8B-B14F-4D97-AF65-F5344CB8AC3E}">
        <p14:creationId xmlns:p14="http://schemas.microsoft.com/office/powerpoint/2010/main" val="349823458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TW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6.png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Shape 0">
            <a:extLst>
              <a:ext uri="{FF2B5EF4-FFF2-40B4-BE49-F238E27FC236}">
                <a16:creationId xmlns:a16="http://schemas.microsoft.com/office/drawing/2014/main" id="{E58EFC69-D70A-A62A-F028-86CB121E0DA5}"/>
              </a:ext>
            </a:extLst>
          </p:cNvPr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AFC"/>
          </a:solidFill>
          <a:ln w="12700">
            <a:solidFill>
              <a:srgbClr val="F7FAFC">
                <a:alpha val="0"/>
              </a:srgbClr>
            </a:solidFill>
            <a:prstDash val="solid"/>
          </a:ln>
        </p:spPr>
      </p:sp>
      <p:pic>
        <p:nvPicPr>
          <p:cNvPr id="34" name="Picture 33">
            <a:extLst>
              <a:ext uri="{FF2B5EF4-FFF2-40B4-BE49-F238E27FC236}">
                <a16:creationId xmlns:a16="http://schemas.microsoft.com/office/drawing/2014/main" id="{48A4B0CA-DD7F-78CE-358D-E05BADB9EC1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81521" y="856165"/>
            <a:ext cx="3691378" cy="369137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43849191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Shape 0">
            <a:extLst>
              <a:ext uri="{FF2B5EF4-FFF2-40B4-BE49-F238E27FC236}">
                <a16:creationId xmlns:a16="http://schemas.microsoft.com/office/drawing/2014/main" id="{E58EFC69-D70A-A62A-F028-86CB121E0DA5}"/>
              </a:ext>
            </a:extLst>
          </p:cNvPr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AFC"/>
          </a:solidFill>
          <a:ln w="12700">
            <a:solidFill>
              <a:srgbClr val="F7FAFC">
                <a:alpha val="0"/>
              </a:srgbClr>
            </a:solidFill>
            <a:prstDash val="solid"/>
          </a:ln>
        </p:spPr>
      </p:sp>
      <p:sp>
        <p:nvSpPr>
          <p:cNvPr id="21" name="Text 4">
            <a:extLst>
              <a:ext uri="{FF2B5EF4-FFF2-40B4-BE49-F238E27FC236}">
                <a16:creationId xmlns:a16="http://schemas.microsoft.com/office/drawing/2014/main" id="{D2437926-FFDF-CA23-D18C-4A4B180D51AC}"/>
              </a:ext>
            </a:extLst>
          </p:cNvPr>
          <p:cNvSpPr/>
          <p:nvPr/>
        </p:nvSpPr>
        <p:spPr>
          <a:xfrm>
            <a:off x="914400" y="4828766"/>
            <a:ext cx="1942186" cy="963918"/>
          </a:xfrm>
          <a:prstGeom prst="rect">
            <a:avLst/>
          </a:prstGeom>
          <a:solidFill>
            <a:srgbClr val="EAF4FB"/>
          </a:solidFill>
          <a:ln>
            <a:solidFill>
              <a:srgbClr val="C8D4DA"/>
            </a:solidFill>
          </a:ln>
        </p:spPr>
        <p:txBody>
          <a:bodyPr wrap="square" lIns="635" tIns="635" rIns="635" bIns="635" rtlCol="0" anchor="ctr">
            <a:normAutofit/>
          </a:bodyPr>
          <a:lstStyle/>
          <a:p>
            <a:pPr marL="0" indent="0" algn="ctr">
              <a:buNone/>
            </a:pPr>
            <a:r>
              <a:rPr lang="en-US" b="1" dirty="0">
                <a:solidFill>
                  <a:srgbClr val="183449"/>
                </a:solidFill>
              </a:rPr>
              <a:t>Events</a:t>
            </a:r>
            <a:endParaRPr lang="en-US" dirty="0"/>
          </a:p>
          <a:p>
            <a:pPr marL="0" indent="0" algn="ctr">
              <a:buNone/>
            </a:pPr>
            <a:r>
              <a:rPr lang="en-US" b="1" dirty="0">
                <a:solidFill>
                  <a:srgbClr val="183449"/>
                </a:solidFill>
              </a:rPr>
              <a:t>Behavior</a:t>
            </a:r>
            <a:endParaRPr lang="en-US" dirty="0"/>
          </a:p>
          <a:p>
            <a:pPr marL="0" indent="0" algn="ctr">
              <a:buNone/>
            </a:pPr>
            <a:r>
              <a:rPr lang="en-US" b="1" dirty="0">
                <a:solidFill>
                  <a:srgbClr val="183449"/>
                </a:solidFill>
              </a:rPr>
              <a:t>Stimuli</a:t>
            </a:r>
            <a:endParaRPr lang="en-US" dirty="0"/>
          </a:p>
        </p:txBody>
      </p:sp>
      <p:sp>
        <p:nvSpPr>
          <p:cNvPr id="22" name="Shape 5">
            <a:extLst>
              <a:ext uri="{FF2B5EF4-FFF2-40B4-BE49-F238E27FC236}">
                <a16:creationId xmlns:a16="http://schemas.microsoft.com/office/drawing/2014/main" id="{C2CA02E8-53A9-7BBA-E9B5-1DE7A80CFD7C}"/>
              </a:ext>
            </a:extLst>
          </p:cNvPr>
          <p:cNvSpPr/>
          <p:nvPr/>
        </p:nvSpPr>
        <p:spPr>
          <a:xfrm>
            <a:off x="2874874" y="5310725"/>
            <a:ext cx="118872" cy="0"/>
          </a:xfrm>
          <a:prstGeom prst="line">
            <a:avLst/>
          </a:prstGeom>
          <a:noFill/>
          <a:ln w="16510">
            <a:solidFill>
              <a:srgbClr val="0B8F8E"/>
            </a:solidFill>
            <a:prstDash val="solid"/>
            <a:headEnd type="none"/>
            <a:tailEnd type="triangle"/>
          </a:ln>
        </p:spPr>
      </p:sp>
      <p:sp>
        <p:nvSpPr>
          <p:cNvPr id="23" name="Text 6">
            <a:extLst>
              <a:ext uri="{FF2B5EF4-FFF2-40B4-BE49-F238E27FC236}">
                <a16:creationId xmlns:a16="http://schemas.microsoft.com/office/drawing/2014/main" id="{48E526B9-D24A-6AA6-F04B-C97CE2B0A58F}"/>
              </a:ext>
            </a:extLst>
          </p:cNvPr>
          <p:cNvSpPr/>
          <p:nvPr/>
        </p:nvSpPr>
        <p:spPr>
          <a:xfrm>
            <a:off x="3012034" y="4828766"/>
            <a:ext cx="1942186" cy="963918"/>
          </a:xfrm>
          <a:prstGeom prst="rect">
            <a:avLst/>
          </a:prstGeom>
          <a:solidFill>
            <a:srgbClr val="EAF4FB"/>
          </a:solidFill>
          <a:ln>
            <a:solidFill>
              <a:srgbClr val="C8D4DA"/>
            </a:solidFill>
          </a:ln>
        </p:spPr>
        <p:txBody>
          <a:bodyPr wrap="square" lIns="635" tIns="635" rIns="635" bIns="635" rtlCol="0" anchor="ctr">
            <a:normAutofit/>
          </a:bodyPr>
          <a:lstStyle/>
          <a:p>
            <a:pPr marL="0" indent="0" algn="ctr">
              <a:buNone/>
            </a:pPr>
            <a:r>
              <a:rPr lang="en-US" b="1" dirty="0">
                <a:solidFill>
                  <a:srgbClr val="183449"/>
                </a:solidFill>
              </a:rPr>
              <a:t>Imaging</a:t>
            </a:r>
            <a:endParaRPr lang="en-US" dirty="0"/>
          </a:p>
          <a:p>
            <a:pPr marL="0" indent="0" algn="ctr">
              <a:buNone/>
            </a:pPr>
            <a:r>
              <a:rPr lang="en-US" b="1" dirty="0">
                <a:solidFill>
                  <a:srgbClr val="183449"/>
                </a:solidFill>
              </a:rPr>
              <a:t>files</a:t>
            </a:r>
            <a:endParaRPr lang="en-US" dirty="0"/>
          </a:p>
        </p:txBody>
      </p:sp>
      <p:sp>
        <p:nvSpPr>
          <p:cNvPr id="24" name="Shape 7">
            <a:extLst>
              <a:ext uri="{FF2B5EF4-FFF2-40B4-BE49-F238E27FC236}">
                <a16:creationId xmlns:a16="http://schemas.microsoft.com/office/drawing/2014/main" id="{40F4D5EB-8D17-8BBC-40BA-BEC0ADE79B71}"/>
              </a:ext>
            </a:extLst>
          </p:cNvPr>
          <p:cNvSpPr/>
          <p:nvPr/>
        </p:nvSpPr>
        <p:spPr>
          <a:xfrm>
            <a:off x="4972507" y="5310725"/>
            <a:ext cx="118872" cy="0"/>
          </a:xfrm>
          <a:prstGeom prst="line">
            <a:avLst/>
          </a:prstGeom>
          <a:noFill/>
          <a:ln w="16510">
            <a:solidFill>
              <a:srgbClr val="0B8F8E"/>
            </a:solidFill>
            <a:prstDash val="solid"/>
            <a:headEnd type="none"/>
            <a:tailEnd type="triangle"/>
          </a:ln>
        </p:spPr>
      </p:sp>
      <p:sp>
        <p:nvSpPr>
          <p:cNvPr id="25" name="Text 8">
            <a:extLst>
              <a:ext uri="{FF2B5EF4-FFF2-40B4-BE49-F238E27FC236}">
                <a16:creationId xmlns:a16="http://schemas.microsoft.com/office/drawing/2014/main" id="{28A68328-EC77-57C6-C1C9-C749FD2149E5}"/>
              </a:ext>
            </a:extLst>
          </p:cNvPr>
          <p:cNvSpPr/>
          <p:nvPr/>
        </p:nvSpPr>
        <p:spPr>
          <a:xfrm>
            <a:off x="5109667" y="4828766"/>
            <a:ext cx="1942186" cy="963918"/>
          </a:xfrm>
          <a:prstGeom prst="rect">
            <a:avLst/>
          </a:prstGeom>
          <a:solidFill>
            <a:srgbClr val="EAF4FB"/>
          </a:solidFill>
          <a:ln>
            <a:solidFill>
              <a:srgbClr val="C8D4DA"/>
            </a:solidFill>
          </a:ln>
        </p:spPr>
        <p:txBody>
          <a:bodyPr wrap="square" lIns="635" tIns="635" rIns="635" bIns="635" rtlCol="0" anchor="ctr">
            <a:normAutofit/>
          </a:bodyPr>
          <a:lstStyle/>
          <a:p>
            <a:pPr marL="0" indent="0" algn="ctr">
              <a:buNone/>
            </a:pPr>
            <a:r>
              <a:rPr lang="en-US" b="1" dirty="0">
                <a:solidFill>
                  <a:srgbClr val="183449"/>
                </a:solidFill>
              </a:rPr>
              <a:t>Config</a:t>
            </a:r>
            <a:endParaRPr lang="en-US" dirty="0"/>
          </a:p>
          <a:p>
            <a:pPr marL="0" indent="0" algn="ctr">
              <a:buNone/>
            </a:pPr>
            <a:r>
              <a:rPr lang="en-US" b="1" dirty="0">
                <a:solidFill>
                  <a:srgbClr val="183449"/>
                </a:solidFill>
              </a:rPr>
              <a:t>file</a:t>
            </a:r>
            <a:endParaRPr lang="en-US" dirty="0"/>
          </a:p>
        </p:txBody>
      </p:sp>
      <p:sp>
        <p:nvSpPr>
          <p:cNvPr id="26" name="Shape 9">
            <a:extLst>
              <a:ext uri="{FF2B5EF4-FFF2-40B4-BE49-F238E27FC236}">
                <a16:creationId xmlns:a16="http://schemas.microsoft.com/office/drawing/2014/main" id="{27B2FCB5-E199-BF09-5188-8E5809036B5D}"/>
              </a:ext>
            </a:extLst>
          </p:cNvPr>
          <p:cNvSpPr/>
          <p:nvPr/>
        </p:nvSpPr>
        <p:spPr>
          <a:xfrm>
            <a:off x="7070141" y="5310725"/>
            <a:ext cx="118872" cy="0"/>
          </a:xfrm>
          <a:prstGeom prst="line">
            <a:avLst/>
          </a:prstGeom>
          <a:noFill/>
          <a:ln w="16510">
            <a:solidFill>
              <a:srgbClr val="0B8F8E"/>
            </a:solidFill>
            <a:prstDash val="solid"/>
            <a:headEnd type="none"/>
            <a:tailEnd type="triangle"/>
          </a:ln>
        </p:spPr>
      </p:sp>
      <p:sp>
        <p:nvSpPr>
          <p:cNvPr id="27" name="Text 10">
            <a:extLst>
              <a:ext uri="{FF2B5EF4-FFF2-40B4-BE49-F238E27FC236}">
                <a16:creationId xmlns:a16="http://schemas.microsoft.com/office/drawing/2014/main" id="{61E93422-9914-68A1-D54C-E3E34DD716CC}"/>
              </a:ext>
            </a:extLst>
          </p:cNvPr>
          <p:cNvSpPr/>
          <p:nvPr/>
        </p:nvSpPr>
        <p:spPr>
          <a:xfrm>
            <a:off x="7207301" y="4828766"/>
            <a:ext cx="1942186" cy="963918"/>
          </a:xfrm>
          <a:prstGeom prst="rect">
            <a:avLst/>
          </a:prstGeom>
          <a:solidFill>
            <a:srgbClr val="D9F2F1"/>
          </a:solidFill>
          <a:ln>
            <a:solidFill>
              <a:srgbClr val="C8D4DA"/>
            </a:solidFill>
          </a:ln>
        </p:spPr>
        <p:txBody>
          <a:bodyPr wrap="square" lIns="635" tIns="635" rIns="635" bIns="635" rtlCol="0" anchor="ctr">
            <a:normAutofit/>
          </a:bodyPr>
          <a:lstStyle/>
          <a:p>
            <a:pPr marL="0" indent="0" algn="ctr">
              <a:buNone/>
            </a:pPr>
            <a:r>
              <a:rPr lang="en-US" b="1" dirty="0">
                <a:solidFill>
                  <a:srgbClr val="183449"/>
                </a:solidFill>
              </a:rPr>
              <a:t>QC</a:t>
            </a:r>
            <a:endParaRPr lang="en-US" dirty="0"/>
          </a:p>
          <a:p>
            <a:pPr marL="0" indent="0" algn="ctr">
              <a:buNone/>
            </a:pPr>
            <a:r>
              <a:rPr lang="en-US" b="1" dirty="0">
                <a:solidFill>
                  <a:srgbClr val="183449"/>
                </a:solidFill>
              </a:rPr>
              <a:t>script</a:t>
            </a:r>
            <a:endParaRPr lang="en-US" dirty="0"/>
          </a:p>
        </p:txBody>
      </p:sp>
      <p:sp>
        <p:nvSpPr>
          <p:cNvPr id="28" name="Shape 11">
            <a:extLst>
              <a:ext uri="{FF2B5EF4-FFF2-40B4-BE49-F238E27FC236}">
                <a16:creationId xmlns:a16="http://schemas.microsoft.com/office/drawing/2014/main" id="{B4AF3CCB-843B-F8C5-81D4-CE264918A5D2}"/>
              </a:ext>
            </a:extLst>
          </p:cNvPr>
          <p:cNvSpPr/>
          <p:nvPr/>
        </p:nvSpPr>
        <p:spPr>
          <a:xfrm>
            <a:off x="9167774" y="5310725"/>
            <a:ext cx="118872" cy="0"/>
          </a:xfrm>
          <a:prstGeom prst="line">
            <a:avLst/>
          </a:prstGeom>
          <a:noFill/>
          <a:ln w="16510">
            <a:solidFill>
              <a:srgbClr val="0B8F8E"/>
            </a:solidFill>
            <a:prstDash val="solid"/>
            <a:headEnd type="none"/>
            <a:tailEnd type="triangle"/>
          </a:ln>
        </p:spPr>
      </p:sp>
      <p:sp>
        <p:nvSpPr>
          <p:cNvPr id="29" name="Text 12">
            <a:extLst>
              <a:ext uri="{FF2B5EF4-FFF2-40B4-BE49-F238E27FC236}">
                <a16:creationId xmlns:a16="http://schemas.microsoft.com/office/drawing/2014/main" id="{FE536512-B550-4619-819D-7F24ED122E7C}"/>
              </a:ext>
            </a:extLst>
          </p:cNvPr>
          <p:cNvSpPr/>
          <p:nvPr/>
        </p:nvSpPr>
        <p:spPr>
          <a:xfrm>
            <a:off x="9304934" y="4828766"/>
            <a:ext cx="1942186" cy="963918"/>
          </a:xfrm>
          <a:prstGeom prst="rect">
            <a:avLst/>
          </a:prstGeom>
          <a:solidFill>
            <a:srgbClr val="FFF0C8"/>
          </a:solidFill>
          <a:ln>
            <a:solidFill>
              <a:srgbClr val="F0CD78"/>
            </a:solidFill>
          </a:ln>
        </p:spPr>
        <p:txBody>
          <a:bodyPr wrap="square" lIns="635" tIns="635" rIns="635" bIns="635" rtlCol="0" anchor="ctr">
            <a:normAutofit/>
          </a:bodyPr>
          <a:lstStyle/>
          <a:p>
            <a:pPr marL="0" indent="0" algn="ctr">
              <a:buNone/>
            </a:pPr>
            <a:r>
              <a:rPr lang="en-US" b="1" dirty="0">
                <a:solidFill>
                  <a:srgbClr val="183449"/>
                </a:solidFill>
              </a:rPr>
              <a:t>Report</a:t>
            </a:r>
            <a:endParaRPr lang="en-US" dirty="0"/>
          </a:p>
          <a:p>
            <a:pPr marL="0" indent="0" algn="ctr">
              <a:buNone/>
            </a:pPr>
            <a:r>
              <a:rPr lang="en-US" b="1" dirty="0">
                <a:solidFill>
                  <a:srgbClr val="183449"/>
                </a:solidFill>
              </a:rPr>
              <a:t>+ WARNINGS</a:t>
            </a:r>
            <a:endParaRPr lang="en-US" dirty="0"/>
          </a:p>
        </p:txBody>
      </p:sp>
      <p:pic>
        <p:nvPicPr>
          <p:cNvPr id="34" name="Picture 33">
            <a:extLst>
              <a:ext uri="{FF2B5EF4-FFF2-40B4-BE49-F238E27FC236}">
                <a16:creationId xmlns:a16="http://schemas.microsoft.com/office/drawing/2014/main" id="{48A4B0CA-DD7F-78CE-358D-E05BADB9EC1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81521" y="856165"/>
            <a:ext cx="3691378" cy="3691378"/>
          </a:xfrm>
          <a:prstGeom prst="rect">
            <a:avLst/>
          </a:prstGeom>
        </p:spPr>
      </p:pic>
      <p:sp>
        <p:nvSpPr>
          <p:cNvPr id="2" name="Text 1">
            <a:extLst>
              <a:ext uri="{FF2B5EF4-FFF2-40B4-BE49-F238E27FC236}">
                <a16:creationId xmlns:a16="http://schemas.microsoft.com/office/drawing/2014/main" id="{399DF3BF-42AE-A918-5906-E5E4C127E8F2}"/>
              </a:ext>
            </a:extLst>
          </p:cNvPr>
          <p:cNvSpPr/>
          <p:nvPr/>
        </p:nvSpPr>
        <p:spPr>
          <a:xfrm>
            <a:off x="914400" y="856165"/>
            <a:ext cx="9174997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Autofit/>
          </a:bodyPr>
          <a:lstStyle/>
          <a:p>
            <a:pPr marL="0" indent="0">
              <a:buNone/>
            </a:pPr>
            <a:r>
              <a:rPr lang="en-US" sz="3200" b="1" dirty="0">
                <a:solidFill>
                  <a:srgbClr val="183449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A Configurable QC Workflow</a:t>
            </a:r>
            <a:r>
              <a:rPr lang="en-US" sz="3200" dirty="0"/>
              <a:t> </a:t>
            </a:r>
          </a:p>
          <a:p>
            <a:pPr marL="0" indent="0">
              <a:buNone/>
            </a:pPr>
            <a:r>
              <a:rPr lang="en-US" sz="3200" b="1" dirty="0">
                <a:solidFill>
                  <a:srgbClr val="183449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for Task-fMRI Data Readiness</a:t>
            </a:r>
            <a:endParaRPr lang="en-US" sz="3200" dirty="0"/>
          </a:p>
        </p:txBody>
      </p:sp>
      <p:sp>
        <p:nvSpPr>
          <p:cNvPr id="5" name="Text 3">
            <a:extLst>
              <a:ext uri="{FF2B5EF4-FFF2-40B4-BE49-F238E27FC236}">
                <a16:creationId xmlns:a16="http://schemas.microsoft.com/office/drawing/2014/main" id="{E681933D-317B-240C-4EFD-BB9209D7BF26}"/>
              </a:ext>
            </a:extLst>
          </p:cNvPr>
          <p:cNvSpPr/>
          <p:nvPr/>
        </p:nvSpPr>
        <p:spPr>
          <a:xfrm>
            <a:off x="914400" y="2062012"/>
            <a:ext cx="5538009" cy="64118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dirty="0">
                <a:solidFill>
                  <a:srgbClr val="7D8B91"/>
                </a:solidFill>
              </a:rPr>
              <a:t>Xuan (Chelsea) Chen  •  NTU-TW</a:t>
            </a:r>
          </a:p>
          <a:p>
            <a:pPr marL="0" indent="0">
              <a:buNone/>
            </a:pPr>
            <a:r>
              <a:rPr lang="en-US" dirty="0" err="1">
                <a:solidFill>
                  <a:srgbClr val="7D8B91"/>
                </a:solidFill>
              </a:rPr>
              <a:t>BrainHack</a:t>
            </a:r>
            <a:r>
              <a:rPr lang="en-US" dirty="0">
                <a:solidFill>
                  <a:srgbClr val="7D8B91"/>
                </a:solidFill>
              </a:rPr>
              <a:t> School Symposium 2026</a:t>
            </a:r>
            <a:endParaRPr lang="en-US" dirty="0"/>
          </a:p>
        </p:txBody>
      </p:sp>
      <p:sp>
        <p:nvSpPr>
          <p:cNvPr id="6" name="Rounded Rectangular Callout 5">
            <a:extLst>
              <a:ext uri="{FF2B5EF4-FFF2-40B4-BE49-F238E27FC236}">
                <a16:creationId xmlns:a16="http://schemas.microsoft.com/office/drawing/2014/main" id="{53E8DF78-E96D-1998-68C9-219881F78163}"/>
              </a:ext>
            </a:extLst>
          </p:cNvPr>
          <p:cNvSpPr/>
          <p:nvPr/>
        </p:nvSpPr>
        <p:spPr>
          <a:xfrm>
            <a:off x="914400" y="3240370"/>
            <a:ext cx="5796366" cy="960120"/>
          </a:xfrm>
          <a:prstGeom prst="wedgeRoundRectCallout">
            <a:avLst>
              <a:gd name="adj1" fmla="val -35806"/>
              <a:gd name="adj2" fmla="val -73195"/>
              <a:gd name="adj3" fmla="val 16667"/>
            </a:avLst>
          </a:prstGeom>
          <a:solidFill>
            <a:schemeClr val="accent1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700" dirty="0">
                <a:solidFill>
                  <a:srgbClr val="5C6B73"/>
                </a:solidFill>
                <a:latin typeface="Ayuthaya" pitchFamily="2" charset="-34"/>
                <a:ea typeface="Ayuthaya" pitchFamily="2" charset="-34"/>
                <a:cs typeface="Ayuthaya" pitchFamily="2" charset="-34"/>
              </a:rPr>
              <a:t>Before analyzing brains, let’s make sure </a:t>
            </a:r>
          </a:p>
          <a:p>
            <a:pPr algn="ctr"/>
            <a:r>
              <a:rPr lang="en-US" sz="1700" dirty="0">
                <a:solidFill>
                  <a:srgbClr val="5C6B73"/>
                </a:solidFill>
                <a:latin typeface="Ayuthaya" pitchFamily="2" charset="-34"/>
                <a:ea typeface="Ayuthaya" pitchFamily="2" charset="-34"/>
                <a:cs typeface="Ayuthaya" pitchFamily="2" charset="-34"/>
              </a:rPr>
              <a:t>the files have “communicated.”</a:t>
            </a:r>
          </a:p>
        </p:txBody>
      </p:sp>
    </p:spTree>
    <p:extLst>
      <p:ext uri="{BB962C8B-B14F-4D97-AF65-F5344CB8AC3E}">
        <p14:creationId xmlns:p14="http://schemas.microsoft.com/office/powerpoint/2010/main" val="3934323827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Shape 0">
            <a:extLst>
              <a:ext uri="{FF2B5EF4-FFF2-40B4-BE49-F238E27FC236}">
                <a16:creationId xmlns:a16="http://schemas.microsoft.com/office/drawing/2014/main" id="{F67B6738-8E95-5912-17F6-F46E9161A9BC}"/>
              </a:ext>
            </a:extLst>
          </p:cNvPr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AFC"/>
          </a:solidFill>
          <a:ln w="12700">
            <a:solidFill>
              <a:srgbClr val="F7FAFC">
                <a:alpha val="0"/>
              </a:srgbClr>
            </a:solidFill>
            <a:prstDash val="solid"/>
          </a:ln>
        </p:spPr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469D9368-3C6B-C944-BAB5-ACDB7AED4B9E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 rotWithShape="1">
          <a:blip r:embed="rId2"/>
          <a:srcRect r="21764"/>
          <a:stretch/>
        </p:blipFill>
        <p:spPr>
          <a:xfrm>
            <a:off x="6080760" y="1945066"/>
            <a:ext cx="5547207" cy="4008745"/>
          </a:xfrm>
        </p:spPr>
      </p:pic>
      <p:sp>
        <p:nvSpPr>
          <p:cNvPr id="7" name="Text 3">
            <a:extLst>
              <a:ext uri="{FF2B5EF4-FFF2-40B4-BE49-F238E27FC236}">
                <a16:creationId xmlns:a16="http://schemas.microsoft.com/office/drawing/2014/main" id="{485F101A-9647-CF6C-4E7A-596929FF1164}"/>
              </a:ext>
            </a:extLst>
          </p:cNvPr>
          <p:cNvSpPr/>
          <p:nvPr/>
        </p:nvSpPr>
        <p:spPr>
          <a:xfrm>
            <a:off x="411480" y="576072"/>
            <a:ext cx="1133856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2800" b="1" dirty="0">
                <a:solidFill>
                  <a:srgbClr val="183449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“Couples therapy” for task-fMRI files</a:t>
            </a:r>
            <a:endParaRPr lang="en-US" sz="2800" dirty="0"/>
          </a:p>
        </p:txBody>
      </p:sp>
      <p:sp>
        <p:nvSpPr>
          <p:cNvPr id="8" name="Text 5">
            <a:extLst>
              <a:ext uri="{FF2B5EF4-FFF2-40B4-BE49-F238E27FC236}">
                <a16:creationId xmlns:a16="http://schemas.microsoft.com/office/drawing/2014/main" id="{EB650B8A-491C-CED2-E308-CCB1F2D861D9}"/>
              </a:ext>
            </a:extLst>
          </p:cNvPr>
          <p:cNvSpPr/>
          <p:nvPr/>
        </p:nvSpPr>
        <p:spPr>
          <a:xfrm>
            <a:off x="563727" y="1142808"/>
            <a:ext cx="11064240" cy="5394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Autofit/>
          </a:bodyPr>
          <a:lstStyle/>
          <a:p>
            <a:r>
              <a:rPr lang="en-US" sz="2000" dirty="0">
                <a:solidFill>
                  <a:schemeClr val="bg2">
                    <a:lumMod val="50000"/>
                  </a:schemeClr>
                </a:solidFill>
              </a:rPr>
              <a:t>A flexible workflow helps different datasets communicate clearly.</a:t>
            </a:r>
          </a:p>
          <a:p>
            <a:endParaRPr lang="en-US" sz="1300" dirty="0"/>
          </a:p>
        </p:txBody>
      </p:sp>
      <p:grpSp>
        <p:nvGrpSpPr>
          <p:cNvPr id="14" name="Group 13">
            <a:extLst>
              <a:ext uri="{FF2B5EF4-FFF2-40B4-BE49-F238E27FC236}">
                <a16:creationId xmlns:a16="http://schemas.microsoft.com/office/drawing/2014/main" id="{E6EFD92C-49CE-8377-5089-3C7DBA671065}"/>
              </a:ext>
            </a:extLst>
          </p:cNvPr>
          <p:cNvGrpSpPr/>
          <p:nvPr/>
        </p:nvGrpSpPr>
        <p:grpSpPr>
          <a:xfrm>
            <a:off x="9254344" y="3780823"/>
            <a:ext cx="3090534" cy="1163782"/>
            <a:chOff x="9321540" y="3768437"/>
            <a:chExt cx="3090534" cy="1163782"/>
          </a:xfrm>
        </p:grpSpPr>
        <p:sp>
          <p:nvSpPr>
            <p:cNvPr id="10" name="Rounded Rectangle 9">
              <a:extLst>
                <a:ext uri="{FF2B5EF4-FFF2-40B4-BE49-F238E27FC236}">
                  <a16:creationId xmlns:a16="http://schemas.microsoft.com/office/drawing/2014/main" id="{3B6540BA-E132-CB7D-AA73-6E403BA12068}"/>
                </a:ext>
              </a:extLst>
            </p:cNvPr>
            <p:cNvSpPr/>
            <p:nvPr/>
          </p:nvSpPr>
          <p:spPr>
            <a:xfrm>
              <a:off x="9321540" y="3768437"/>
              <a:ext cx="2699309" cy="1163782"/>
            </a:xfrm>
            <a:prstGeom prst="roundRect">
              <a:avLst/>
            </a:prstGeom>
            <a:solidFill>
              <a:srgbClr val="E4F3F7"/>
            </a:solidFill>
            <a:ln w="12700">
              <a:solidFill>
                <a:srgbClr val="CBE6EB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11" name="TextBox 10">
              <a:extLst>
                <a:ext uri="{FF2B5EF4-FFF2-40B4-BE49-F238E27FC236}">
                  <a16:creationId xmlns:a16="http://schemas.microsoft.com/office/drawing/2014/main" id="{A61C5DE4-8347-B35D-05F8-BE967C9E093A}"/>
                </a:ext>
              </a:extLst>
            </p:cNvPr>
            <p:cNvSpPr txBox="1"/>
            <p:nvPr/>
          </p:nvSpPr>
          <p:spPr>
            <a:xfrm>
              <a:off x="9404499" y="3900820"/>
              <a:ext cx="3007575" cy="92333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indent="0">
                <a:buNone/>
              </a:pPr>
              <a:r>
                <a:rPr lang="en-US" sz="1400" dirty="0">
                  <a:solidFill>
                    <a:srgbClr val="102230"/>
                  </a:solidFill>
                  <a:latin typeface="Aptos" pitchFamily="34" charset="0"/>
                  <a:ea typeface="Aptos" pitchFamily="34" charset="-122"/>
                  <a:cs typeface="Aptos" pitchFamily="34" charset="-120"/>
                </a:rPr>
                <a:t>- dataset-specific expectations</a:t>
              </a:r>
            </a:p>
            <a:p>
              <a:pPr marL="0" indent="0">
                <a:buNone/>
              </a:pPr>
              <a:endParaRPr lang="en-US" sz="600" dirty="0">
                <a:solidFill>
                  <a:srgbClr val="102230"/>
                </a:solidFill>
                <a:latin typeface="Aptos" pitchFamily="34" charset="0"/>
                <a:ea typeface="Aptos" pitchFamily="34" charset="-122"/>
                <a:cs typeface="Aptos" pitchFamily="34" charset="-120"/>
              </a:endParaRPr>
            </a:p>
            <a:p>
              <a:r>
                <a:rPr lang="en-US" sz="1400" dirty="0">
                  <a:solidFill>
                    <a:srgbClr val="102230"/>
                  </a:solidFill>
                  <a:latin typeface="Aptos" pitchFamily="34" charset="0"/>
                  <a:ea typeface="Aptos" pitchFamily="34" charset="-122"/>
                  <a:cs typeface="Aptos" pitchFamily="34" charset="-120"/>
                </a:rPr>
                <a:t>- documented results</a:t>
              </a:r>
              <a:endParaRPr lang="en-TW" sz="1400" dirty="0"/>
            </a:p>
            <a:p>
              <a:pPr marL="0" indent="0">
                <a:buNone/>
              </a:pPr>
              <a:endParaRPr lang="en-US" sz="600" dirty="0">
                <a:solidFill>
                  <a:srgbClr val="102230"/>
                </a:solidFill>
                <a:latin typeface="Aptos" pitchFamily="34" charset="0"/>
                <a:ea typeface="Aptos" pitchFamily="34" charset="-122"/>
                <a:cs typeface="Aptos" pitchFamily="34" charset="-120"/>
              </a:endParaRPr>
            </a:p>
            <a:p>
              <a:pPr marL="0" indent="0">
                <a:buNone/>
              </a:pPr>
              <a:r>
                <a:rPr lang="en-US" sz="1400" dirty="0">
                  <a:solidFill>
                    <a:srgbClr val="102230"/>
                  </a:solidFill>
                  <a:latin typeface="Aptos" pitchFamily="34" charset="0"/>
                  <a:ea typeface="Aptos" pitchFamily="34" charset="-122"/>
                  <a:cs typeface="Aptos" pitchFamily="34" charset="-120"/>
                </a:rPr>
                <a:t>- reusable QC logic</a:t>
              </a:r>
            </a:p>
          </p:txBody>
        </p:sp>
      </p:grpSp>
      <p:sp>
        <p:nvSpPr>
          <p:cNvPr id="12" name="Rounded Rectangle 11">
            <a:extLst>
              <a:ext uri="{FF2B5EF4-FFF2-40B4-BE49-F238E27FC236}">
                <a16:creationId xmlns:a16="http://schemas.microsoft.com/office/drawing/2014/main" id="{7EDB0879-7FDE-AB40-D5C9-BB30C962B8B1}"/>
              </a:ext>
            </a:extLst>
          </p:cNvPr>
          <p:cNvSpPr/>
          <p:nvPr/>
        </p:nvSpPr>
        <p:spPr>
          <a:xfrm>
            <a:off x="563728" y="2117019"/>
            <a:ext cx="5124150" cy="3046988"/>
          </a:xfrm>
          <a:prstGeom prst="roundRect">
            <a:avLst/>
          </a:prstGeom>
          <a:solidFill>
            <a:schemeClr val="bg1"/>
          </a:solidFill>
          <a:ln w="12700">
            <a:solidFill>
              <a:srgbClr val="CBE6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76C71652-CC2D-7578-DDDA-17C9B8AD1394}"/>
              </a:ext>
            </a:extLst>
          </p:cNvPr>
          <p:cNvSpPr txBox="1"/>
          <p:nvPr/>
        </p:nvSpPr>
        <p:spPr>
          <a:xfrm>
            <a:off x="784107" y="2257329"/>
            <a:ext cx="4579742" cy="304698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indent="0">
              <a:buNone/>
            </a:pPr>
            <a:r>
              <a:rPr lang="en-US" sz="2000" b="1" dirty="0">
                <a:solidFill>
                  <a:srgbClr val="0B8F8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1. Introduce them!</a:t>
            </a:r>
            <a:r>
              <a:rPr lang="en-US" sz="2200" b="1" dirty="0">
                <a:solidFill>
                  <a:srgbClr val="0B8F8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
</a:t>
            </a:r>
            <a:r>
              <a:rPr lang="en-US" dirty="0">
                <a:solidFill>
                  <a:srgbClr val="10223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→</a:t>
            </a:r>
            <a:r>
              <a:rPr lang="en-US" b="1" dirty="0">
                <a:solidFill>
                  <a:srgbClr val="0B8F8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 </a:t>
            </a:r>
            <a:r>
              <a:rPr lang="en-US" dirty="0"/>
              <a:t>Read event files and imaging-file listings</a:t>
            </a:r>
          </a:p>
          <a:p>
            <a:pPr marL="0" indent="0">
              <a:buNone/>
            </a:pPr>
            <a:endParaRPr lang="en-US" sz="800" dirty="0"/>
          </a:p>
          <a:p>
            <a:r>
              <a:rPr lang="en-US" sz="2000" b="1" dirty="0">
                <a:solidFill>
                  <a:srgbClr val="0B8F8E"/>
                </a:solidFill>
                <a:latin typeface="Aptos" pitchFamily="34" charset="0"/>
              </a:rPr>
              <a:t>2. Check the relationship status…</a:t>
            </a:r>
            <a:r>
              <a:rPr lang="en-US" sz="2000" dirty="0">
                <a:solidFill>
                  <a:srgbClr val="10223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
</a:t>
            </a:r>
            <a:r>
              <a:rPr lang="en-US" dirty="0">
                <a:solidFill>
                  <a:srgbClr val="10223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→ Validate columns, file patterns, and event–BOLD matching</a:t>
            </a:r>
          </a:p>
          <a:p>
            <a:endParaRPr lang="en-US" sz="800" dirty="0">
              <a:solidFill>
                <a:srgbClr val="102230"/>
              </a:solidFill>
              <a:latin typeface="Aptos" pitchFamily="34" charset="0"/>
              <a:ea typeface="Aptos" pitchFamily="34" charset="-122"/>
              <a:cs typeface="Aptos" pitchFamily="34" charset="-120"/>
            </a:endParaRPr>
          </a:p>
          <a:p>
            <a:r>
              <a:rPr lang="en-US" sz="2000" b="1" dirty="0">
                <a:solidFill>
                  <a:srgbClr val="0B8F8E"/>
                </a:solidFill>
                <a:latin typeface="Aptos" pitchFamily="34" charset="0"/>
              </a:rPr>
              <a:t>3. Document the drama :(</a:t>
            </a:r>
            <a:r>
              <a:rPr lang="en-US" sz="2000" dirty="0">
                <a:solidFill>
                  <a:srgbClr val="10223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
</a:t>
            </a:r>
            <a:r>
              <a:rPr lang="en-US" dirty="0">
                <a:solidFill>
                  <a:srgbClr val="10223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→ Write human-readable Markdown reports with warnings</a:t>
            </a:r>
          </a:p>
          <a:p>
            <a:endParaRPr lang="en-US" sz="2000" dirty="0">
              <a:solidFill>
                <a:srgbClr val="102230"/>
              </a:solidFill>
              <a:latin typeface="Aptos" pitchFamily="34" charset="0"/>
              <a:ea typeface="Aptos" pitchFamily="34" charset="-122"/>
              <a:cs typeface="Aptos" pitchFamily="34" charset="-120"/>
            </a:endParaRPr>
          </a:p>
        </p:txBody>
      </p:sp>
      <p:cxnSp>
        <p:nvCxnSpPr>
          <p:cNvPr id="21" name="Straight Arrow Connector 20">
            <a:extLst>
              <a:ext uri="{FF2B5EF4-FFF2-40B4-BE49-F238E27FC236}">
                <a16:creationId xmlns:a16="http://schemas.microsoft.com/office/drawing/2014/main" id="{C0F115DC-F587-6E97-319A-51DE767E6017}"/>
              </a:ext>
            </a:extLst>
          </p:cNvPr>
          <p:cNvCxnSpPr>
            <a:cxnSpLocks/>
          </p:cNvCxnSpPr>
          <p:nvPr/>
        </p:nvCxnSpPr>
        <p:spPr>
          <a:xfrm>
            <a:off x="7005855" y="3913206"/>
            <a:ext cx="2331448" cy="173885"/>
          </a:xfrm>
          <a:prstGeom prst="straightConnector1">
            <a:avLst/>
          </a:prstGeom>
          <a:ln w="76200">
            <a:solidFill>
              <a:schemeClr val="tx2">
                <a:lumMod val="60000"/>
                <a:lumOff val="40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2" name="Straight Arrow Connector 21">
            <a:extLst>
              <a:ext uri="{FF2B5EF4-FFF2-40B4-BE49-F238E27FC236}">
                <a16:creationId xmlns:a16="http://schemas.microsoft.com/office/drawing/2014/main" id="{1BCBCD47-37CA-B153-7B92-55199647D3E9}"/>
              </a:ext>
            </a:extLst>
          </p:cNvPr>
          <p:cNvCxnSpPr>
            <a:cxnSpLocks/>
          </p:cNvCxnSpPr>
          <p:nvPr/>
        </p:nvCxnSpPr>
        <p:spPr>
          <a:xfrm flipV="1">
            <a:off x="7005855" y="4378269"/>
            <a:ext cx="2342380" cy="240250"/>
          </a:xfrm>
          <a:prstGeom prst="straightConnector1">
            <a:avLst/>
          </a:prstGeom>
          <a:ln w="76200">
            <a:solidFill>
              <a:schemeClr val="tx2">
                <a:lumMod val="60000"/>
                <a:lumOff val="40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4" name="Straight Arrow Connector 23">
            <a:extLst>
              <a:ext uri="{FF2B5EF4-FFF2-40B4-BE49-F238E27FC236}">
                <a16:creationId xmlns:a16="http://schemas.microsoft.com/office/drawing/2014/main" id="{115B0BE0-6CF4-539F-F52E-5EA704884B0F}"/>
              </a:ext>
            </a:extLst>
          </p:cNvPr>
          <p:cNvCxnSpPr>
            <a:cxnSpLocks/>
          </p:cNvCxnSpPr>
          <p:nvPr/>
        </p:nvCxnSpPr>
        <p:spPr>
          <a:xfrm flipV="1">
            <a:off x="7039697" y="4726588"/>
            <a:ext cx="2323811" cy="225177"/>
          </a:xfrm>
          <a:prstGeom prst="straightConnector1">
            <a:avLst/>
          </a:prstGeom>
          <a:ln w="76200">
            <a:solidFill>
              <a:schemeClr val="tx2">
                <a:lumMod val="60000"/>
                <a:lumOff val="40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18" name="Group 17">
            <a:extLst>
              <a:ext uri="{FF2B5EF4-FFF2-40B4-BE49-F238E27FC236}">
                <a16:creationId xmlns:a16="http://schemas.microsoft.com/office/drawing/2014/main" id="{BA7E7EF0-54CB-67E4-F03D-7448DDB1181E}"/>
              </a:ext>
            </a:extLst>
          </p:cNvPr>
          <p:cNvGrpSpPr/>
          <p:nvPr/>
        </p:nvGrpSpPr>
        <p:grpSpPr>
          <a:xfrm>
            <a:off x="8007349" y="496415"/>
            <a:ext cx="3236976" cy="1030024"/>
            <a:chOff x="8007349" y="496415"/>
            <a:chExt cx="3236976" cy="1030024"/>
          </a:xfrm>
        </p:grpSpPr>
        <p:sp>
          <p:nvSpPr>
            <p:cNvPr id="3" name="Text 8">
              <a:extLst>
                <a:ext uri="{FF2B5EF4-FFF2-40B4-BE49-F238E27FC236}">
                  <a16:creationId xmlns:a16="http://schemas.microsoft.com/office/drawing/2014/main" id="{89C25C19-30BE-F137-9551-CECE0E47D388}"/>
                </a:ext>
              </a:extLst>
            </p:cNvPr>
            <p:cNvSpPr/>
            <p:nvPr/>
          </p:nvSpPr>
          <p:spPr>
            <a:xfrm>
              <a:off x="8007349" y="496415"/>
              <a:ext cx="3236976" cy="1030024"/>
            </a:xfrm>
            <a:prstGeom prst="rect">
              <a:avLst/>
            </a:prstGeom>
            <a:solidFill>
              <a:srgbClr val="FFF0C8"/>
            </a:solidFill>
            <a:ln w="12700">
              <a:solidFill>
                <a:srgbClr val="C8D4DA"/>
              </a:solidFill>
            </a:ln>
          </p:spPr>
          <p:txBody>
            <a:bodyPr wrap="square" lIns="1778" tIns="1778" rIns="1778" bIns="1778" rtlCol="0" anchor="t">
              <a:normAutofit/>
            </a:bodyPr>
            <a:lstStyle/>
            <a:p>
              <a:endParaRPr lang="en-US" sz="1400" dirty="0"/>
            </a:p>
          </p:txBody>
        </p:sp>
        <p:sp>
          <p:nvSpPr>
            <p:cNvPr id="4" name="TextBox 3">
              <a:extLst>
                <a:ext uri="{FF2B5EF4-FFF2-40B4-BE49-F238E27FC236}">
                  <a16:creationId xmlns:a16="http://schemas.microsoft.com/office/drawing/2014/main" id="{744CD83A-81D9-3039-4DA1-8F0A439A79EC}"/>
                </a:ext>
              </a:extLst>
            </p:cNvPr>
            <p:cNvSpPr txBox="1"/>
            <p:nvPr/>
          </p:nvSpPr>
          <p:spPr>
            <a:xfrm>
              <a:off x="8007349" y="578647"/>
              <a:ext cx="3236976" cy="83099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1600" b="1" dirty="0">
                  <a:solidFill>
                    <a:srgbClr val="183449"/>
                  </a:solidFill>
                  <a:latin typeface="Aptos" pitchFamily="34" charset="0"/>
                  <a:ea typeface="Aptos" pitchFamily="34" charset="-122"/>
                  <a:cs typeface="Aptos" pitchFamily="34" charset="-120"/>
                </a:rPr>
                <a:t>Linking event metadata with </a:t>
              </a:r>
            </a:p>
            <a:p>
              <a:pPr algn="ctr"/>
              <a:r>
                <a:rPr lang="en-US" sz="1600" b="1" dirty="0">
                  <a:solidFill>
                    <a:srgbClr val="183449"/>
                  </a:solidFill>
                  <a:latin typeface="Aptos" pitchFamily="34" charset="0"/>
                  <a:ea typeface="Aptos" pitchFamily="34" charset="-122"/>
                  <a:cs typeface="Aptos" pitchFamily="34" charset="-120"/>
                </a:rPr>
                <a:t>imaging-file structure </a:t>
              </a:r>
            </a:p>
            <a:p>
              <a:pPr algn="ctr"/>
              <a:r>
                <a:rPr lang="en-US" sz="1600" b="1" dirty="0">
                  <a:solidFill>
                    <a:srgbClr val="183449"/>
                  </a:solidFill>
                  <a:latin typeface="Aptos" pitchFamily="34" charset="0"/>
                  <a:ea typeface="Aptos" pitchFamily="34" charset="-122"/>
                  <a:cs typeface="Aptos" pitchFamily="34" charset="-120"/>
                </a:rPr>
                <a:t>before deeper analysis!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1767164682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Shape 0">
            <a:extLst>
              <a:ext uri="{FF2B5EF4-FFF2-40B4-BE49-F238E27FC236}">
                <a16:creationId xmlns:a16="http://schemas.microsoft.com/office/drawing/2014/main" id="{F67B6738-8E95-5912-17F6-F46E9161A9BC}"/>
              </a:ext>
            </a:extLst>
          </p:cNvPr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AFC"/>
          </a:solidFill>
          <a:ln w="12700">
            <a:solidFill>
              <a:srgbClr val="F7FAFC">
                <a:alpha val="0"/>
              </a:srgbClr>
            </a:solidFill>
            <a:prstDash val="solid"/>
          </a:ln>
        </p:spPr>
      </p:sp>
      <p:sp>
        <p:nvSpPr>
          <p:cNvPr id="7" name="Text 3">
            <a:extLst>
              <a:ext uri="{FF2B5EF4-FFF2-40B4-BE49-F238E27FC236}">
                <a16:creationId xmlns:a16="http://schemas.microsoft.com/office/drawing/2014/main" id="{485F101A-9647-CF6C-4E7A-596929FF1164}"/>
              </a:ext>
            </a:extLst>
          </p:cNvPr>
          <p:cNvSpPr/>
          <p:nvPr/>
        </p:nvSpPr>
        <p:spPr>
          <a:xfrm>
            <a:off x="411480" y="271267"/>
            <a:ext cx="1133856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sz="2800" b="1" dirty="0">
                <a:solidFill>
                  <a:srgbClr val="183449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Two datasets + Same QC</a:t>
            </a:r>
            <a:endParaRPr lang="en-US" sz="2800" dirty="0"/>
          </a:p>
        </p:txBody>
      </p:sp>
      <p:sp>
        <p:nvSpPr>
          <p:cNvPr id="8" name="Text 5">
            <a:extLst>
              <a:ext uri="{FF2B5EF4-FFF2-40B4-BE49-F238E27FC236}">
                <a16:creationId xmlns:a16="http://schemas.microsoft.com/office/drawing/2014/main" id="{EB650B8A-491C-CED2-E308-CCB1F2D861D9}"/>
              </a:ext>
            </a:extLst>
          </p:cNvPr>
          <p:cNvSpPr/>
          <p:nvPr/>
        </p:nvSpPr>
        <p:spPr>
          <a:xfrm>
            <a:off x="563727" y="619316"/>
            <a:ext cx="11064240" cy="5394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Autofit/>
          </a:bodyPr>
          <a:lstStyle/>
          <a:p>
            <a:pPr algn="ctr"/>
            <a:r>
              <a:rPr lang="en-US" dirty="0">
                <a:solidFill>
                  <a:schemeClr val="bg2">
                    <a:lumMod val="50000"/>
                  </a:schemeClr>
                </a:solidFill>
              </a:rPr>
              <a:t>One configurable file-inventory check across two different task-fMRI datasets.</a:t>
            </a:r>
            <a:endParaRPr lang="en-US" dirty="0"/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F840D3FD-8E85-4C4C-67CA-D3CD94FA25CC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t="83" b="1"/>
          <a:stretch/>
        </p:blipFill>
        <p:spPr>
          <a:xfrm>
            <a:off x="3662699" y="1158812"/>
            <a:ext cx="4866602" cy="4616545"/>
          </a:xfrm>
          <a:prstGeom prst="rect">
            <a:avLst/>
          </a:prstGeom>
        </p:spPr>
      </p:pic>
      <p:grpSp>
        <p:nvGrpSpPr>
          <p:cNvPr id="17" name="Group 16">
            <a:extLst>
              <a:ext uri="{FF2B5EF4-FFF2-40B4-BE49-F238E27FC236}">
                <a16:creationId xmlns:a16="http://schemas.microsoft.com/office/drawing/2014/main" id="{0ED0F407-AF58-3281-1D8F-1F2C56AE4418}"/>
              </a:ext>
            </a:extLst>
          </p:cNvPr>
          <p:cNvGrpSpPr/>
          <p:nvPr/>
        </p:nvGrpSpPr>
        <p:grpSpPr>
          <a:xfrm>
            <a:off x="2175163" y="5850792"/>
            <a:ext cx="7841673" cy="735941"/>
            <a:chOff x="2175163" y="5767664"/>
            <a:chExt cx="7841673" cy="735941"/>
          </a:xfrm>
        </p:grpSpPr>
        <p:sp>
          <p:nvSpPr>
            <p:cNvPr id="16" name="Text 10">
              <a:extLst>
                <a:ext uri="{FF2B5EF4-FFF2-40B4-BE49-F238E27FC236}">
                  <a16:creationId xmlns:a16="http://schemas.microsoft.com/office/drawing/2014/main" id="{C30DB95E-8148-64F9-FFFA-C653B2CF6477}"/>
                </a:ext>
              </a:extLst>
            </p:cNvPr>
            <p:cNvSpPr/>
            <p:nvPr/>
          </p:nvSpPr>
          <p:spPr>
            <a:xfrm>
              <a:off x="2175163" y="6013154"/>
              <a:ext cx="7841673" cy="490451"/>
            </a:xfrm>
            <a:prstGeom prst="rect">
              <a:avLst/>
            </a:prstGeom>
            <a:solidFill>
              <a:srgbClr val="FFFFFF"/>
            </a:solidFill>
            <a:ln>
              <a:solidFill>
                <a:srgbClr val="C9DFE2"/>
              </a:solidFill>
            </a:ln>
          </p:spPr>
          <p:txBody>
            <a:bodyPr wrap="square" lIns="1270" tIns="1270" rIns="1270" bIns="1270" rtlCol="0" anchor="ctr">
              <a:normAutofit/>
            </a:bodyPr>
            <a:lstStyle/>
            <a:p>
              <a:pPr algn="r"/>
              <a:endParaRPr lang="en-US" sz="1500" b="1" dirty="0">
                <a:solidFill>
                  <a:srgbClr val="183449"/>
                </a:solidFill>
              </a:endParaRPr>
            </a:p>
            <a:p>
              <a:pPr algn="ctr"/>
              <a:r>
                <a:rPr lang="en-US" sz="1500" b="1" dirty="0">
                  <a:solidFill>
                    <a:srgbClr val="183449"/>
                  </a:solidFill>
                </a:rPr>
                <a:t>Both datasets had 0 events without BOLD and 0 BOLD runs without events.</a:t>
              </a:r>
            </a:p>
            <a:p>
              <a:pPr algn="ctr"/>
              <a:endParaRPr lang="en-US" sz="1500" dirty="0"/>
            </a:p>
          </p:txBody>
        </p:sp>
        <p:sp>
          <p:nvSpPr>
            <p:cNvPr id="15" name="Text 9">
              <a:extLst>
                <a:ext uri="{FF2B5EF4-FFF2-40B4-BE49-F238E27FC236}">
                  <a16:creationId xmlns:a16="http://schemas.microsoft.com/office/drawing/2014/main" id="{48FF019F-E6D0-DB55-9150-4573C1E7377B}"/>
                </a:ext>
              </a:extLst>
            </p:cNvPr>
            <p:cNvSpPr/>
            <p:nvPr/>
          </p:nvSpPr>
          <p:spPr>
            <a:xfrm>
              <a:off x="5433060" y="5767664"/>
              <a:ext cx="1325880" cy="309799"/>
            </a:xfrm>
            <a:prstGeom prst="rect">
              <a:avLst/>
            </a:prstGeom>
            <a:solidFill>
              <a:srgbClr val="0B8F8E"/>
            </a:solidFill>
            <a:ln>
              <a:solidFill>
                <a:srgbClr val="0B8F8E"/>
              </a:solidFill>
            </a:ln>
          </p:spPr>
          <p:txBody>
            <a:bodyPr wrap="square" lIns="381" tIns="381" rIns="381" bIns="381" rtlCol="0" anchor="ctr"/>
            <a:lstStyle/>
            <a:p>
              <a:pPr marL="0" indent="0" algn="ctr">
                <a:buNone/>
              </a:pPr>
              <a:r>
                <a:rPr lang="en-US" sz="1200" b="1" dirty="0">
                  <a:solidFill>
                    <a:srgbClr val="FFFFFF"/>
                  </a:solidFill>
                </a:rPr>
                <a:t>Takeaway</a:t>
              </a:r>
              <a:endParaRPr lang="en-US" sz="1200" b="1" dirty="0"/>
            </a:p>
          </p:txBody>
        </p:sp>
      </p:grpSp>
    </p:spTree>
    <p:extLst>
      <p:ext uri="{BB962C8B-B14F-4D97-AF65-F5344CB8AC3E}">
        <p14:creationId xmlns:p14="http://schemas.microsoft.com/office/powerpoint/2010/main" val="206026389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Shape 0">
            <a:extLst>
              <a:ext uri="{FF2B5EF4-FFF2-40B4-BE49-F238E27FC236}">
                <a16:creationId xmlns:a16="http://schemas.microsoft.com/office/drawing/2014/main" id="{F67B6738-8E95-5912-17F6-F46E9161A9BC}"/>
              </a:ext>
            </a:extLst>
          </p:cNvPr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AFC"/>
          </a:solidFill>
          <a:ln w="12700">
            <a:solidFill>
              <a:srgbClr val="F7FAFC">
                <a:alpha val="0"/>
              </a:srgbClr>
            </a:solidFill>
            <a:prstDash val="solid"/>
          </a:ln>
        </p:spPr>
      </p:sp>
      <p:sp>
        <p:nvSpPr>
          <p:cNvPr id="7" name="Text 3">
            <a:extLst>
              <a:ext uri="{FF2B5EF4-FFF2-40B4-BE49-F238E27FC236}">
                <a16:creationId xmlns:a16="http://schemas.microsoft.com/office/drawing/2014/main" id="{485F101A-9647-CF6C-4E7A-596929FF1164}"/>
              </a:ext>
            </a:extLst>
          </p:cNvPr>
          <p:cNvSpPr/>
          <p:nvPr/>
        </p:nvSpPr>
        <p:spPr>
          <a:xfrm>
            <a:off x="411480" y="290198"/>
            <a:ext cx="1133856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2800" b="1" dirty="0">
                <a:solidFill>
                  <a:srgbClr val="183449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The couples therapist leaves “receipts.”</a:t>
            </a:r>
            <a:endParaRPr lang="en-US" sz="2800" dirty="0"/>
          </a:p>
        </p:txBody>
      </p:sp>
      <p:sp>
        <p:nvSpPr>
          <p:cNvPr id="8" name="Text 5">
            <a:extLst>
              <a:ext uri="{FF2B5EF4-FFF2-40B4-BE49-F238E27FC236}">
                <a16:creationId xmlns:a16="http://schemas.microsoft.com/office/drawing/2014/main" id="{EB650B8A-491C-CED2-E308-CCB1F2D861D9}"/>
              </a:ext>
            </a:extLst>
          </p:cNvPr>
          <p:cNvSpPr/>
          <p:nvPr/>
        </p:nvSpPr>
        <p:spPr>
          <a:xfrm>
            <a:off x="563727" y="790674"/>
            <a:ext cx="11064240" cy="5394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Autofit/>
          </a:bodyPr>
          <a:lstStyle/>
          <a:p>
            <a:r>
              <a:rPr lang="en-US" sz="2000" dirty="0">
                <a:solidFill>
                  <a:schemeClr val="bg2">
                    <a:lumMod val="50000"/>
                  </a:schemeClr>
                </a:solidFill>
              </a:rPr>
              <a:t>A reproducible readiness check before deeper analysis.</a:t>
            </a:r>
          </a:p>
          <a:p>
            <a:endParaRPr lang="en-US" sz="1300" dirty="0"/>
          </a:p>
        </p:txBody>
      </p:sp>
      <p:pic>
        <p:nvPicPr>
          <p:cNvPr id="19" name="Picture 18">
            <a:extLst>
              <a:ext uri="{FF2B5EF4-FFF2-40B4-BE49-F238E27FC236}">
                <a16:creationId xmlns:a16="http://schemas.microsoft.com/office/drawing/2014/main" id="{23211A9F-73DB-9AFF-D753-312B38340358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r="14379" b="62965"/>
          <a:stretch/>
        </p:blipFill>
        <p:spPr>
          <a:xfrm>
            <a:off x="1532784" y="2224951"/>
            <a:ext cx="3967358" cy="1279845"/>
          </a:xfrm>
          <a:prstGeom prst="rect">
            <a:avLst/>
          </a:prstGeom>
          <a:ln w="38100">
            <a:solidFill>
              <a:schemeClr val="tx2">
                <a:lumMod val="40000"/>
                <a:lumOff val="60000"/>
              </a:schemeClr>
            </a:solidFill>
          </a:ln>
        </p:spPr>
      </p:pic>
      <p:pic>
        <p:nvPicPr>
          <p:cNvPr id="20" name="Picture 19">
            <a:extLst>
              <a:ext uri="{FF2B5EF4-FFF2-40B4-BE49-F238E27FC236}">
                <a16:creationId xmlns:a16="http://schemas.microsoft.com/office/drawing/2014/main" id="{28B43C10-4059-F1C5-5E72-F34941E7C7A0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t="80247" r="14379"/>
          <a:stretch/>
        </p:blipFill>
        <p:spPr>
          <a:xfrm>
            <a:off x="1532785" y="3699908"/>
            <a:ext cx="3967358" cy="682629"/>
          </a:xfrm>
          <a:prstGeom prst="rect">
            <a:avLst/>
          </a:prstGeom>
          <a:ln w="38100">
            <a:solidFill>
              <a:schemeClr val="tx2">
                <a:lumMod val="40000"/>
                <a:lumOff val="60000"/>
              </a:schemeClr>
            </a:solidFill>
          </a:ln>
        </p:spPr>
      </p:pic>
      <p:sp>
        <p:nvSpPr>
          <p:cNvPr id="28" name="Rounded Rectangle 27">
            <a:extLst>
              <a:ext uri="{FF2B5EF4-FFF2-40B4-BE49-F238E27FC236}">
                <a16:creationId xmlns:a16="http://schemas.microsoft.com/office/drawing/2014/main" id="{1F55F6FD-AB25-AD8E-B24C-D799F11B3AA0}"/>
              </a:ext>
            </a:extLst>
          </p:cNvPr>
          <p:cNvSpPr/>
          <p:nvPr/>
        </p:nvSpPr>
        <p:spPr>
          <a:xfrm>
            <a:off x="1754911" y="1252310"/>
            <a:ext cx="3576112" cy="816359"/>
          </a:xfrm>
          <a:prstGeom prst="roundRect">
            <a:avLst/>
          </a:prstGeom>
          <a:solidFill>
            <a:schemeClr val="bg1"/>
          </a:solidFill>
          <a:ln w="12700">
            <a:solidFill>
              <a:srgbClr val="CBE6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77A5DB48-B3E6-26BA-9D1C-CB02BA23334E}"/>
              </a:ext>
            </a:extLst>
          </p:cNvPr>
          <p:cNvSpPr txBox="1"/>
          <p:nvPr/>
        </p:nvSpPr>
        <p:spPr>
          <a:xfrm>
            <a:off x="1882690" y="1322030"/>
            <a:ext cx="3448334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indent="0">
              <a:buNone/>
            </a:pPr>
            <a:r>
              <a:rPr lang="en-US" b="1" dirty="0">
                <a:solidFill>
                  <a:srgbClr val="0B8F8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1. The therapist
</a:t>
            </a:r>
            <a:r>
              <a:rPr lang="en-US" dirty="0">
                <a:solidFill>
                  <a:srgbClr val="10223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→</a:t>
            </a:r>
            <a:r>
              <a:rPr lang="en-US" b="1" dirty="0">
                <a:solidFill>
                  <a:srgbClr val="0B8F8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 </a:t>
            </a:r>
            <a:r>
              <a:rPr lang="en-US" dirty="0"/>
              <a:t>Snapshots of the matching code</a:t>
            </a:r>
          </a:p>
        </p:txBody>
      </p:sp>
      <p:pic>
        <p:nvPicPr>
          <p:cNvPr id="38" name="Picture 37">
            <a:extLst>
              <a:ext uri="{FF2B5EF4-FFF2-40B4-BE49-F238E27FC236}">
                <a16:creationId xmlns:a16="http://schemas.microsoft.com/office/drawing/2014/main" id="{D68FE3BE-E9B5-AEE2-EDC8-CDC53BF0194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737205" y="1252310"/>
            <a:ext cx="3258228" cy="3871161"/>
          </a:xfrm>
          <a:prstGeom prst="rect">
            <a:avLst/>
          </a:prstGeom>
          <a:ln w="38100">
            <a:solidFill>
              <a:schemeClr val="accent3">
                <a:lumMod val="75000"/>
              </a:schemeClr>
            </a:solidFill>
          </a:ln>
        </p:spPr>
      </p:pic>
      <p:pic>
        <p:nvPicPr>
          <p:cNvPr id="40" name="Picture 39">
            <a:extLst>
              <a:ext uri="{FF2B5EF4-FFF2-40B4-BE49-F238E27FC236}">
                <a16:creationId xmlns:a16="http://schemas.microsoft.com/office/drawing/2014/main" id="{1B8B7C53-13C5-D916-79DF-EAF1CA9468D6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230439" y="1674415"/>
            <a:ext cx="3225969" cy="3871161"/>
          </a:xfrm>
          <a:prstGeom prst="rect">
            <a:avLst/>
          </a:prstGeom>
          <a:ln w="38100">
            <a:solidFill>
              <a:schemeClr val="accent3">
                <a:lumMod val="75000"/>
              </a:schemeClr>
            </a:solidFill>
          </a:ln>
        </p:spPr>
      </p:pic>
      <p:sp>
        <p:nvSpPr>
          <p:cNvPr id="33" name="Rounded Rectangle 32">
            <a:extLst>
              <a:ext uri="{FF2B5EF4-FFF2-40B4-BE49-F238E27FC236}">
                <a16:creationId xmlns:a16="http://schemas.microsoft.com/office/drawing/2014/main" id="{8D55B5B7-3BE8-D977-8693-B53C0359415C}"/>
              </a:ext>
            </a:extLst>
          </p:cNvPr>
          <p:cNvSpPr/>
          <p:nvPr/>
        </p:nvSpPr>
        <p:spPr>
          <a:xfrm>
            <a:off x="7989327" y="290198"/>
            <a:ext cx="1854097" cy="816359"/>
          </a:xfrm>
          <a:prstGeom prst="roundRect">
            <a:avLst/>
          </a:prstGeom>
          <a:solidFill>
            <a:schemeClr val="bg1"/>
          </a:solidFill>
          <a:ln w="12700">
            <a:solidFill>
              <a:srgbClr val="CBE6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4" name="TextBox 33">
            <a:extLst>
              <a:ext uri="{FF2B5EF4-FFF2-40B4-BE49-F238E27FC236}">
                <a16:creationId xmlns:a16="http://schemas.microsoft.com/office/drawing/2014/main" id="{418667AF-C99F-347B-66A3-982319D3B37F}"/>
              </a:ext>
            </a:extLst>
          </p:cNvPr>
          <p:cNvSpPr txBox="1"/>
          <p:nvPr/>
        </p:nvSpPr>
        <p:spPr>
          <a:xfrm>
            <a:off x="8117106" y="359918"/>
            <a:ext cx="1854097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indent="0">
              <a:buNone/>
            </a:pPr>
            <a:r>
              <a:rPr lang="en-US" b="1" dirty="0">
                <a:solidFill>
                  <a:srgbClr val="0B8F8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2. The receipt
</a:t>
            </a:r>
            <a:r>
              <a:rPr lang="en-US" dirty="0">
                <a:solidFill>
                  <a:srgbClr val="10223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→</a:t>
            </a:r>
            <a:r>
              <a:rPr lang="en-US" b="1" dirty="0">
                <a:solidFill>
                  <a:srgbClr val="0B8F8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 </a:t>
            </a:r>
            <a:r>
              <a:rPr lang="en-US" dirty="0"/>
              <a:t>Smoke tests</a:t>
            </a:r>
          </a:p>
        </p:txBody>
      </p:sp>
      <p:sp>
        <p:nvSpPr>
          <p:cNvPr id="41" name="Rounded Rectangle 40">
            <a:extLst>
              <a:ext uri="{FF2B5EF4-FFF2-40B4-BE49-F238E27FC236}">
                <a16:creationId xmlns:a16="http://schemas.microsoft.com/office/drawing/2014/main" id="{89814759-1376-85C6-12FE-CE9BBB7C1F57}"/>
              </a:ext>
            </a:extLst>
          </p:cNvPr>
          <p:cNvSpPr/>
          <p:nvPr/>
        </p:nvSpPr>
        <p:spPr>
          <a:xfrm>
            <a:off x="1532784" y="4789331"/>
            <a:ext cx="4249302" cy="1632717"/>
          </a:xfrm>
          <a:prstGeom prst="roundRect">
            <a:avLst/>
          </a:prstGeom>
          <a:solidFill>
            <a:schemeClr val="accent6">
              <a:lumMod val="20000"/>
              <a:lumOff val="80000"/>
            </a:schemeClr>
          </a:solidFill>
          <a:ln w="12700">
            <a:solidFill>
              <a:srgbClr val="CBE6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2" name="TextBox 41">
            <a:extLst>
              <a:ext uri="{FF2B5EF4-FFF2-40B4-BE49-F238E27FC236}">
                <a16:creationId xmlns:a16="http://schemas.microsoft.com/office/drawing/2014/main" id="{ADF65034-3850-0489-DA1C-473D7148F90B}"/>
              </a:ext>
            </a:extLst>
          </p:cNvPr>
          <p:cNvSpPr txBox="1"/>
          <p:nvPr/>
        </p:nvSpPr>
        <p:spPr>
          <a:xfrm>
            <a:off x="1660563" y="4859051"/>
            <a:ext cx="4249303" cy="175432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>
                <a:solidFill>
                  <a:srgbClr val="0B8F8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3. The status update
</a:t>
            </a:r>
            <a:r>
              <a:rPr lang="en-US" dirty="0">
                <a:solidFill>
                  <a:srgbClr val="10223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→</a:t>
            </a:r>
            <a:r>
              <a:rPr lang="en-US" b="1" dirty="0">
                <a:solidFill>
                  <a:srgbClr val="0B8F8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 </a:t>
            </a:r>
            <a:r>
              <a:rPr lang="en-US" dirty="0"/>
              <a:t>Relationship status:</a:t>
            </a:r>
          </a:p>
          <a:p>
            <a:r>
              <a:rPr lang="en-US" dirty="0"/>
              <a:t>☑ Communicating</a:t>
            </a:r>
          </a:p>
          <a:p>
            <a:r>
              <a:rPr lang="en-US" dirty="0"/>
              <a:t>☐ Ghosting</a:t>
            </a:r>
          </a:p>
          <a:p>
            <a:r>
              <a:rPr lang="en-US" dirty="0"/>
              <a:t>☐ “I thought that was the matching run”</a:t>
            </a:r>
            <a:endParaRPr lang="en-TW" dirty="0"/>
          </a:p>
          <a:p>
            <a:pPr marL="0" indent="0">
              <a:buNone/>
            </a:pPr>
            <a:endParaRPr lang="en-US" dirty="0"/>
          </a:p>
        </p:txBody>
      </p:sp>
      <p:sp>
        <p:nvSpPr>
          <p:cNvPr id="47" name="Shape 14">
            <a:extLst>
              <a:ext uri="{FF2B5EF4-FFF2-40B4-BE49-F238E27FC236}">
                <a16:creationId xmlns:a16="http://schemas.microsoft.com/office/drawing/2014/main" id="{4074DA4D-7558-268E-85C5-4679FA3B1054}"/>
              </a:ext>
            </a:extLst>
          </p:cNvPr>
          <p:cNvSpPr/>
          <p:nvPr/>
        </p:nvSpPr>
        <p:spPr>
          <a:xfrm rot="18000550">
            <a:off x="5091507" y="2146004"/>
            <a:ext cx="1828800" cy="1828800"/>
          </a:xfrm>
          <a:prstGeom prst="arc">
            <a:avLst/>
          </a:prstGeom>
          <a:noFill/>
          <a:ln w="127000">
            <a:solidFill>
              <a:srgbClr val="0B8F8E">
                <a:alpha val="65000"/>
              </a:srgbClr>
            </a:solidFill>
            <a:prstDash val="solid"/>
            <a:headEnd type="none"/>
            <a:tailEnd type="triangle"/>
          </a:ln>
        </p:spPr>
      </p:sp>
      <p:sp>
        <p:nvSpPr>
          <p:cNvPr id="48" name="Shape 14">
            <a:extLst>
              <a:ext uri="{FF2B5EF4-FFF2-40B4-BE49-F238E27FC236}">
                <a16:creationId xmlns:a16="http://schemas.microsoft.com/office/drawing/2014/main" id="{38F3847B-8D4C-78BA-B86B-3F15DE1C419B}"/>
              </a:ext>
            </a:extLst>
          </p:cNvPr>
          <p:cNvSpPr/>
          <p:nvPr/>
        </p:nvSpPr>
        <p:spPr>
          <a:xfrm rot="7002451">
            <a:off x="5070168" y="4017637"/>
            <a:ext cx="1828800" cy="1828800"/>
          </a:xfrm>
          <a:prstGeom prst="arc">
            <a:avLst/>
          </a:prstGeom>
          <a:noFill/>
          <a:ln w="127000">
            <a:solidFill>
              <a:srgbClr val="0B8F8E">
                <a:alpha val="65000"/>
              </a:srgbClr>
            </a:solidFill>
            <a:prstDash val="solid"/>
            <a:headEnd type="none"/>
            <a:tailEnd type="triangle"/>
          </a:ln>
        </p:spPr>
      </p:sp>
    </p:spTree>
    <p:extLst>
      <p:ext uri="{BB962C8B-B14F-4D97-AF65-F5344CB8AC3E}">
        <p14:creationId xmlns:p14="http://schemas.microsoft.com/office/powerpoint/2010/main" val="1559893076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Shape 0">
            <a:extLst>
              <a:ext uri="{FF2B5EF4-FFF2-40B4-BE49-F238E27FC236}">
                <a16:creationId xmlns:a16="http://schemas.microsoft.com/office/drawing/2014/main" id="{E58EFC69-D70A-A62A-F028-86CB121E0DA5}"/>
              </a:ext>
            </a:extLst>
          </p:cNvPr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AFC"/>
          </a:solidFill>
          <a:ln w="12700">
            <a:solidFill>
              <a:srgbClr val="F7FAFC">
                <a:alpha val="0"/>
              </a:srgbClr>
            </a:solidFill>
            <a:prstDash val="solid"/>
          </a:ln>
        </p:spPr>
      </p:sp>
      <p:sp>
        <p:nvSpPr>
          <p:cNvPr id="2" name="Text 1">
            <a:extLst>
              <a:ext uri="{FF2B5EF4-FFF2-40B4-BE49-F238E27FC236}">
                <a16:creationId xmlns:a16="http://schemas.microsoft.com/office/drawing/2014/main" id="{399DF3BF-42AE-A918-5906-E5E4C127E8F2}"/>
              </a:ext>
            </a:extLst>
          </p:cNvPr>
          <p:cNvSpPr/>
          <p:nvPr/>
        </p:nvSpPr>
        <p:spPr>
          <a:xfrm>
            <a:off x="1508346" y="1756277"/>
            <a:ext cx="9174997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Autofit/>
          </a:bodyPr>
          <a:lstStyle/>
          <a:p>
            <a:pPr marL="0" indent="0" algn="ctr">
              <a:buNone/>
            </a:pPr>
            <a:r>
              <a:rPr lang="en-US" sz="8000" b="1" dirty="0">
                <a:solidFill>
                  <a:srgbClr val="183449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THANK YOU!</a:t>
            </a:r>
            <a:endParaRPr lang="en-US" sz="8000" dirty="0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7007B7E9-919A-2FF5-62EA-3D85EF9C9B0D}"/>
              </a:ext>
            </a:extLst>
          </p:cNvPr>
          <p:cNvSpPr txBox="1"/>
          <p:nvPr/>
        </p:nvSpPr>
        <p:spPr>
          <a:xfrm>
            <a:off x="824871" y="3227560"/>
            <a:ext cx="10541949" cy="203132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/>
              <a:t>TLDR:</a:t>
            </a:r>
          </a:p>
          <a:p>
            <a:pPr algn="ctr"/>
            <a:br>
              <a:rPr lang="en-US" dirty="0"/>
            </a:br>
            <a:r>
              <a:rPr lang="en-US" dirty="0"/>
              <a:t>I made a reusable check for task-fMRI files.</a:t>
            </a:r>
          </a:p>
          <a:p>
            <a:pPr algn="ctr"/>
            <a:br>
              <a:rPr lang="en-US" dirty="0"/>
            </a:br>
            <a:r>
              <a:rPr lang="en-US" dirty="0"/>
              <a:t>It checks that task-event files and brain-scan runs are properly matched before anyone analyses the brains.</a:t>
            </a:r>
            <a:br>
              <a:rPr lang="en-US" dirty="0"/>
            </a:br>
            <a:br>
              <a:rPr lang="en-US" dirty="0"/>
            </a:br>
            <a:r>
              <a:rPr lang="en-US" dirty="0"/>
              <a:t>Because brains are complicated enough, but your filenames do not need to be.</a:t>
            </a:r>
            <a:endParaRPr lang="en-TW" dirty="0"/>
          </a:p>
        </p:txBody>
      </p:sp>
    </p:spTree>
    <p:extLst>
      <p:ext uri="{BB962C8B-B14F-4D97-AF65-F5344CB8AC3E}">
        <p14:creationId xmlns:p14="http://schemas.microsoft.com/office/powerpoint/2010/main" val="2902847747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241</TotalTime>
  <Words>265</Words>
  <Application>Microsoft Macintosh PowerPoint</Application>
  <PresentationFormat>Widescreen</PresentationFormat>
  <Paragraphs>49</Paragraphs>
  <Slides>6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6</vt:i4>
      </vt:variant>
    </vt:vector>
  </HeadingPairs>
  <TitlesOfParts>
    <vt:vector size="13" baseType="lpstr">
      <vt:lpstr>Aptos</vt:lpstr>
      <vt:lpstr>Aptos Display</vt:lpstr>
      <vt:lpstr>Arial</vt:lpstr>
      <vt:lpstr>Ayuthaya</vt:lpstr>
      <vt:lpstr>Calibri</vt:lpstr>
      <vt:lpstr>Calibri Light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Microsoft Office User</dc:creator>
  <cp:lastModifiedBy>Microsoft Office User</cp:lastModifiedBy>
  <cp:revision>5</cp:revision>
  <dcterms:created xsi:type="dcterms:W3CDTF">2026-07-01T02:24:40Z</dcterms:created>
  <dcterms:modified xsi:type="dcterms:W3CDTF">2026-07-01T06:31:09Z</dcterms:modified>
</cp:coreProperties>
</file>